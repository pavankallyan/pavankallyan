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Nyutro Sans Heavy" charset="1" panose="00000000000000000000"/>
      <p:regular r:id="rId27"/>
    </p:embeddedFont>
    <p:embeddedFont>
      <p:font typeface="Nyutro Sans" charset="1" panose="00000000000000000000"/>
      <p:regular r:id="rId28"/>
    </p:embeddedFont>
    <p:embeddedFont>
      <p:font typeface="Nyutro Sans Bold" charset="1" panose="00000000000000000000"/>
      <p:regular r:id="rId30"/>
    </p:embeddedFont>
    <p:embeddedFont>
      <p:font typeface="Canva Sans Bold" charset="1" panose="020B0803030501040103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fonts/font44.fntdata" Type="http://schemas.openxmlformats.org/officeDocument/2006/relationships/font"/><Relationship Id="rId45" Target="notesSlides/notesSlide16.xml" Type="http://schemas.openxmlformats.org/officeDocument/2006/relationships/notesSlide"/><Relationship Id="rId46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“Hello everyone, my name is Pavan Kalyan Muniyappa.</a:t>
            </a:r>
          </a:p>
          <a:p>
            <a:r>
              <a:rPr lang="en-US"/>
              <a:t>Today I will be presenting my project titled Predicting Heart Disease, created for Applied Statistics for Research.</a:t>
            </a:r>
          </a:p>
          <a:p>
            <a:r>
              <a:rPr lang="en-US"/>
              <a:t>This study compares two statistical learning models to identify which one predicts heart disease more accurately.”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main research question guiding this project is: Which model predicts heart disease more accurately — Logistic Regression or KNN?</a:t>
            </a:r>
          </a:p>
          <a:p>
            <a:r>
              <a:rPr lang="en-US"/>
              <a:t>The goal is to compare these two models and understand their strengths.</a:t>
            </a:r>
          </a:p>
          <a:p>
            <a:r>
              <a:rPr lang="en-US"/>
              <a:t>Heart disease remains one of the leading causes of mortality, so early prediction can make a major difference in clinical decision-making.”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dataset used contains 1,025 patient records and 14 clinical predictor variables.</a:t>
            </a:r>
          </a:p>
          <a:p>
            <a:r>
              <a:rPr lang="en-US"/>
              <a:t>The target variable is binary — indicating whether heart disease is present or not.</a:t>
            </a:r>
          </a:p>
          <a:p>
            <a:r>
              <a:rPr lang="en-US"/>
              <a:t>The classes are almost evenly distributed with 499 ‘no’ and 526 ‘yes’, which provides a good balance for training both models.”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dataset includes both numerical and categorical variables.</a:t>
            </a:r>
          </a:p>
          <a:p>
            <a:r>
              <a:rPr lang="en-US"/>
              <a:t>Key numeric variables include age, blood pressure, cholesterol, and ST depression.</a:t>
            </a:r>
          </a:p>
          <a:p>
            <a:r>
              <a:rPr lang="en-US"/>
              <a:t>Categorical variables include chest pain type, fasting blood sugar, ECG results, and more.</a:t>
            </a:r>
          </a:p>
          <a:p>
            <a:r>
              <a:rPr lang="en-US"/>
              <a:t>Early analysis showed that chest pain type, oldpeak, and maximum heart rate show strong separation between patients with and without heart disease.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EDA: Age Histogram</a:t>
            </a:r>
          </a:p>
          <a:p>
            <a:r>
              <a:rPr lang="en-US"/>
              <a:t/>
            </a:r>
          </a:p>
          <a:p>
            <a:r>
              <a:rPr lang="en-US"/>
              <a:t>📍 Page 5</a:t>
            </a:r>
          </a:p>
          <a:p>
            <a:r>
              <a:rPr lang="en-US"/>
              <a:t/>
            </a:r>
          </a:p>
          <a:p>
            <a:r>
              <a:rPr lang="en-US"/>
              <a:t>Script:</a:t>
            </a:r>
          </a:p>
          <a:p>
            <a:r>
              <a:rPr lang="en-US"/>
              <a:t>“This histogram shows how age is distributed across both groups.</a:t>
            </a:r>
          </a:p>
          <a:p>
            <a:r>
              <a:rPr lang="en-US"/>
              <a:t>Heart disease appears across all ages, but it is slightly more common in the mid-to-older age range.</a:t>
            </a:r>
          </a:p>
          <a:p>
            <a:r>
              <a:rPr lang="en-US"/>
              <a:t>This gives us useful background on the patient population.”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EDA: Cholesterol Boxplot</a:t>
            </a:r>
          </a:p>
          <a:p>
            <a:r>
              <a:rPr lang="en-US"/>
              <a:t/>
            </a:r>
          </a:p>
          <a:p>
            <a:r>
              <a:rPr lang="en-US"/>
              <a:t>📍 Page 6</a:t>
            </a:r>
          </a:p>
          <a:p>
            <a:r>
              <a:rPr lang="en-US"/>
              <a:t/>
            </a:r>
          </a:p>
          <a:p>
            <a:r>
              <a:rPr lang="en-US"/>
              <a:t>Script:</a:t>
            </a:r>
          </a:p>
          <a:p>
            <a:r>
              <a:rPr lang="en-US"/>
              <a:t>“This boxplot compares cholesterol levels between the two groups.</a:t>
            </a:r>
          </a:p>
          <a:p>
            <a:r>
              <a:rPr lang="en-US"/>
              <a:t>We can see variation in cholesterol across both categories, but not a strong split — suggesting cholesterol alone may not be a strong predictor in this dataset.”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EDA: Cholesterol Boxplot</a:t>
            </a:r>
          </a:p>
          <a:p>
            <a:r>
              <a:rPr lang="en-US"/>
              <a:t/>
            </a:r>
          </a:p>
          <a:p>
            <a:r>
              <a:rPr lang="en-US"/>
              <a:t>📍 Page 6</a:t>
            </a:r>
          </a:p>
          <a:p>
            <a:r>
              <a:rPr lang="en-US"/>
              <a:t/>
            </a:r>
          </a:p>
          <a:p>
            <a:r>
              <a:rPr lang="en-US"/>
              <a:t>Script:</a:t>
            </a:r>
          </a:p>
          <a:p>
            <a:r>
              <a:rPr lang="en-US"/>
              <a:t>“This boxplot compares cholesterol levels between the two groups.</a:t>
            </a:r>
          </a:p>
          <a:p>
            <a:r>
              <a:rPr lang="en-US"/>
              <a:t>We can see variation in cholesterol across both categories, but not a strong split — suggesting cholesterol alone may not be a strong predictor in this dataset.”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Relationship Plot (Pairwise)</a:t>
            </a:r>
          </a:p>
          <a:p>
            <a:r>
              <a:rPr lang="en-US"/>
              <a:t/>
            </a:r>
          </a:p>
          <a:p>
            <a:r>
              <a:rPr lang="en-US"/>
              <a:t>📍 Page 8</a:t>
            </a:r>
          </a:p>
          <a:p>
            <a:r>
              <a:rPr lang="en-US"/>
              <a:t/>
            </a:r>
          </a:p>
          <a:p>
            <a:r>
              <a:rPr lang="en-US"/>
              <a:t>Script:</a:t>
            </a:r>
          </a:p>
          <a:p>
            <a:r>
              <a:rPr lang="en-US"/>
              <a:t>“This pairplot shows relationships among key variables.</a:t>
            </a:r>
          </a:p>
          <a:p>
            <a:r>
              <a:rPr lang="en-US"/>
              <a:t>We notice that both oldpeak and thalach show strong separation between the two classes.</a:t>
            </a:r>
          </a:p>
          <a:p>
            <a:r>
              <a:rPr lang="en-US"/>
              <a:t>These correlation patterns helped guide model selection.”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For training, the dataset was split into 80% training and 20% testing.</a:t>
            </a:r>
          </a:p>
          <a:p>
            <a:r>
              <a:rPr lang="en-US"/>
              <a:t>Two models were applied: Logistic Regression for interpretability, and KNN for capturing nonlinear patterns.</a:t>
            </a:r>
          </a:p>
          <a:p>
            <a:r>
              <a:rPr lang="en-US"/>
              <a:t>KNN required preprocessing with centering and scaling, and we tuned the model using repeated cross-validation, which selected K = 3 as the optimal value.”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Script:</a:t>
            </a:r>
          </a:p>
          <a:p>
            <a:r>
              <a:rPr lang="en-US"/>
              <a:t>“This is the ROC curve for logistic regression.</a:t>
            </a:r>
          </a:p>
          <a:p>
            <a:r>
              <a:rPr lang="en-US"/>
              <a:t>The model achieved an AUC of 0.93, which shows strong ability to distinguish between the two classes.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On the test dataset, logistic regression achieved 84% accuracy.</a:t>
            </a:r>
          </a:p>
          <a:p>
            <a:r>
              <a:rPr lang="en-US"/>
              <a:t>It had a high sensitivity of 88%, meaning it detects disease cases well.</a:t>
            </a:r>
          </a:p>
          <a:p>
            <a:r>
              <a:rPr lang="en-US"/>
              <a:t>The specificity was 79%.</a:t>
            </a:r>
          </a:p>
          <a:p>
            <a:r>
              <a:rPr lang="en-US"/>
              <a:t>Important predictors identified include chest pain type, maximum heart rate, ST depression, and number of major vessels.”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Script:</a:t>
            </a:r>
          </a:p>
          <a:p>
            <a:r>
              <a:rPr lang="en-US"/>
              <a:t>“This is the ROC curve for the KNN model.</a:t>
            </a:r>
          </a:p>
          <a:p>
            <a:r>
              <a:rPr lang="en-US"/>
              <a:t>It achieved an exceptional AUC of 0.986, indicating nearly perfect class separation.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KNN with K = 3 achieved the highest overall accuracy of 87.75%.</a:t>
            </a:r>
          </a:p>
          <a:p>
            <a:r>
              <a:rPr lang="en-US"/>
              <a:t>Its specificity was very strong at 91.9%, meaning it is very good at detecting non-disease cases.</a:t>
            </a:r>
          </a:p>
          <a:p>
            <a:r>
              <a:rPr lang="en-US"/>
              <a:t>Sensitivity was also strong at 83.8%.”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When directly comparing the two models, KNN outperformed logistic regression in both accuracy and AUC.</a:t>
            </a:r>
          </a:p>
          <a:p>
            <a:r>
              <a:rPr lang="en-US"/>
              <a:t>Logistic regression had slightly higher sensitivity, but KNN achieved higher specificity and overall performance.</a:t>
            </a:r>
          </a:p>
          <a:p>
            <a:r>
              <a:rPr lang="en-US"/>
              <a:t>For prediction accuracy, KNN is the superior model, while logistic regression remains more interpretable.”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table summarizes the performance metrics.</a:t>
            </a:r>
          </a:p>
          <a:p>
            <a:r>
              <a:rPr lang="en-US"/>
              <a:t>KNN leads with the highest accuracy and AUC, while logistic regression performs well but slightly below in key areas.</a:t>
            </a:r>
          </a:p>
          <a:p>
            <a:r>
              <a:rPr lang="en-US"/>
              <a:t>This confirms our previous observations.”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“KNN effectively captures nonlinear relationships, making it strong in predictive tasks.</a:t>
            </a:r>
          </a:p>
          <a:p>
            <a:r>
              <a:rPr lang="en-US"/>
              <a:t>Limitations include the lack of an external validation dataset and some logistic regression coefficients being influenced by variable encoding.</a:t>
            </a:r>
          </a:p>
          <a:p>
            <a:r>
              <a:rPr lang="en-US"/>
              <a:t>Future work includes trying SVM or Random Forest, experimenting with PCA, and validating the models on new patient data.”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“In conclusion, the best performing model is KNN with K = 3, due to its high accuracy and near-perfect AUC.</a:t>
            </a:r>
          </a:p>
          <a:p>
            <a:r>
              <a:rPr lang="en-US"/>
              <a:t>Important predictors included oldpeak, chest pain type, maximum heart rate, and vessel count.</a:t>
            </a:r>
          </a:p>
          <a:p>
            <a:r>
              <a:rPr lang="en-US"/>
              <a:t>This model can support early detection of heart disease and help improve clinical decisions.”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D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43073" y="0"/>
            <a:ext cx="7906462" cy="11806399"/>
            <a:chOff x="0" y="0"/>
            <a:chExt cx="1863593" cy="2782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3594" cy="2782840"/>
            </a:xfrm>
            <a:custGeom>
              <a:avLst/>
              <a:gdLst/>
              <a:ahLst/>
              <a:cxnLst/>
              <a:rect r="r" b="b" t="t" l="l"/>
              <a:pathLst>
                <a:path h="2782840" w="1863594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51" r="0" b="-35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7259225"/>
            <a:chOff x="0" y="0"/>
            <a:chExt cx="13017500" cy="967896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3017500" cy="813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5000"/>
                </a:lnSpc>
              </a:pPr>
              <a:r>
                <a:rPr lang="en-US" b="true" sz="15000" spc="-150">
                  <a:solidFill>
                    <a:srgbClr val="27283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Predicting Heart Disease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234342"/>
              <a:ext cx="10057193" cy="1444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-60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Pavan Kalyan Muniyappa</a:t>
              </a:r>
            </a:p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APPLIED STATS FOR RESEARCH-DATA-6000-01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E9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976312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Introduction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66163" y="2568612"/>
            <a:ext cx="6858000" cy="2574888"/>
            <a:chOff x="0" y="0"/>
            <a:chExt cx="9144000" cy="343318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085800"/>
              <a:ext cx="9144000" cy="2347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The key inquiry guiding this study is: </a:t>
              </a:r>
              <a:r>
                <a:rPr lang="en-US" b="true" sz="24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Which model predicts heart disease more accurately — Logistic Regression or KNN?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This question aims to explore each model's effectiveness.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91440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Research Question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01300" y="2568612"/>
            <a:ext cx="6858000" cy="2574888"/>
            <a:chOff x="0" y="0"/>
            <a:chExt cx="9144000" cy="343318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085800"/>
              <a:ext cx="9144000" cy="2347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The primary objective is to </a:t>
              </a:r>
              <a:r>
                <a:rPr lang="en-US" b="true" sz="24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compare two statistical learning models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to determine their efficacy in predicting heart disease, which is critical for improving clinical decision-making.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91440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Goal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429875" y="5488969"/>
            <a:ext cx="6858000" cy="1698588"/>
            <a:chOff x="0" y="0"/>
            <a:chExt cx="9144000" cy="226478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085800"/>
              <a:ext cx="91440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arl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y predicti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 he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lp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 wi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 clinical decision-making.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91440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Why imp</a:t>
              </a: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</a:t>
              </a: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rt</a:t>
              </a: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</a:t>
              </a: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nt?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66163" y="5488969"/>
            <a:ext cx="6858000" cy="1698588"/>
            <a:chOff x="0" y="0"/>
            <a:chExt cx="9144000" cy="226478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085800"/>
              <a:ext cx="91440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Heart disease is one of the leading causes of mortality; e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arly prediction helps intervention.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91440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Backgr</a:t>
              </a: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oun</a:t>
              </a: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D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9763125" cy="1990725"/>
            <a:chOff x="0" y="0"/>
            <a:chExt cx="13017500" cy="26543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3017500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27283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Dataset Overview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38100" y="2000250"/>
              <a:ext cx="129794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Insights into the dataset used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212569"/>
            <a:ext cx="6858000" cy="2574888"/>
            <a:chOff x="0" y="0"/>
            <a:chExt cx="9144000" cy="343318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085800"/>
              <a:ext cx="9144000" cy="2347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The dataset contains </a:t>
              </a:r>
              <a:r>
                <a:rPr lang="en-US" b="true" sz="24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1,025 rows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and </a:t>
              </a:r>
              <a:r>
                <a:rPr lang="en-US" b="true" sz="24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14 predictors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alongside the target variable, providing a robust foundation for our analysis of heart disease prediction models.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91440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Dataset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01300" y="4212569"/>
            <a:ext cx="6858000" cy="2574888"/>
            <a:chOff x="0" y="0"/>
            <a:chExt cx="9144000" cy="343318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085800"/>
              <a:ext cx="9144000" cy="2347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The target variable is binary, indicating presence or absence of heart disease, with a nearly balanced distribution of </a:t>
              </a:r>
              <a:r>
                <a:rPr lang="en-US" b="true" sz="24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499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and </a:t>
              </a:r>
              <a:r>
                <a:rPr lang="en-US" b="true" sz="24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526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instances, ensuring reliable model training.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91440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Target Variable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9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24162" y="2990850"/>
            <a:ext cx="4010025" cy="6267450"/>
            <a:chOff x="0" y="0"/>
            <a:chExt cx="1056138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4D35E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38988" y="2990850"/>
            <a:ext cx="4010025" cy="6267450"/>
            <a:chOff x="0" y="0"/>
            <a:chExt cx="1056138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4D35E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53812" y="2990850"/>
            <a:ext cx="4010025" cy="6267450"/>
            <a:chOff x="0" y="0"/>
            <a:chExt cx="1056138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4D35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74295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Key Variables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027182" y="5657850"/>
            <a:ext cx="3603986" cy="1715770"/>
            <a:chOff x="0" y="0"/>
            <a:chExt cx="4805315" cy="228769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47625"/>
              <a:ext cx="4805315" cy="953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455"/>
                </a:lnSpc>
              </a:pPr>
              <a:r>
                <a:rPr lang="en-US" b="true" sz="4950" spc="-49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Numeric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588" y="110871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</a:t>
              </a:r>
              <a:r>
                <a:rPr lang="en-US" sz="2499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ge, trestbps, chol, thalach, oldpeak, ca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628198" y="5657850"/>
            <a:ext cx="3031604" cy="1715770"/>
            <a:chOff x="0" y="0"/>
            <a:chExt cx="4042139" cy="228769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47625"/>
              <a:ext cx="4042139" cy="953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455"/>
                </a:lnSpc>
              </a:pPr>
              <a:r>
                <a:rPr lang="en-US" b="true" sz="4950" spc="-49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Categorical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10871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x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, c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p, fbs, r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est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ecg,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ex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an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g,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slo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pe, t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943023" y="5657850"/>
            <a:ext cx="3031604" cy="2715895"/>
            <a:chOff x="0" y="0"/>
            <a:chExt cx="4042139" cy="362119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47625"/>
              <a:ext cx="4042139" cy="1702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455"/>
                </a:lnSpc>
              </a:pPr>
              <a:r>
                <a:rPr lang="en-US" b="true" sz="4950" spc="-49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Important Patterns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858010"/>
              <a:ext cx="4042139" cy="1763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cp, oldpeak, 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nd th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al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ach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show strong separation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3877521" y="437875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192346" y="437875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507171" y="437875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D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02879" y="2988419"/>
            <a:ext cx="11482243" cy="7031329"/>
            <a:chOff x="0" y="0"/>
            <a:chExt cx="1359121" cy="8322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9121" cy="832279"/>
            </a:xfrm>
            <a:custGeom>
              <a:avLst/>
              <a:gdLst/>
              <a:ahLst/>
              <a:cxnLst/>
              <a:rect r="r" b="b" t="t" l="l"/>
              <a:pathLst>
                <a:path h="832279" w="1359121">
                  <a:moveTo>
                    <a:pt x="16856" y="0"/>
                  </a:moveTo>
                  <a:lnTo>
                    <a:pt x="1342265" y="0"/>
                  </a:lnTo>
                  <a:cubicBezTo>
                    <a:pt x="1351574" y="0"/>
                    <a:pt x="1359121" y="7547"/>
                    <a:pt x="1359121" y="16856"/>
                  </a:cubicBezTo>
                  <a:lnTo>
                    <a:pt x="1359121" y="815423"/>
                  </a:lnTo>
                  <a:cubicBezTo>
                    <a:pt x="1359121" y="824732"/>
                    <a:pt x="1351574" y="832279"/>
                    <a:pt x="1342265" y="832279"/>
                  </a:cubicBezTo>
                  <a:lnTo>
                    <a:pt x="16856" y="832279"/>
                  </a:lnTo>
                  <a:cubicBezTo>
                    <a:pt x="7547" y="832279"/>
                    <a:pt x="0" y="824732"/>
                    <a:pt x="0" y="815423"/>
                  </a:cubicBezTo>
                  <a:lnTo>
                    <a:pt x="0" y="16856"/>
                  </a:lnTo>
                  <a:cubicBezTo>
                    <a:pt x="0" y="7547"/>
                    <a:pt x="7547" y="0"/>
                    <a:pt x="1685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031" r="0" b="-10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11172825" cy="6324637"/>
            <a:chOff x="0" y="0"/>
            <a:chExt cx="14897100" cy="84328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4897100" cy="312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27283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Exploratory Data Analysis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164466"/>
              <a:ext cx="3121446" cy="5268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Age</a:t>
              </a:r>
              <a:r>
                <a:rPr lang="en-US" sz="2499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Histogram: Shows that heart disease appears across all ages, but slightly more frequent in mid-to-older age groups.</a:t>
              </a:r>
            </a:p>
            <a:p>
              <a:pPr algn="l" marL="0" indent="0" lvl="0">
                <a:lnSpc>
                  <a:spcPts val="349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D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02879" y="2988419"/>
            <a:ext cx="11482243" cy="7031329"/>
            <a:chOff x="0" y="0"/>
            <a:chExt cx="1359121" cy="8322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9121" cy="832279"/>
            </a:xfrm>
            <a:custGeom>
              <a:avLst/>
              <a:gdLst/>
              <a:ahLst/>
              <a:cxnLst/>
              <a:rect r="r" b="b" t="t" l="l"/>
              <a:pathLst>
                <a:path h="832279" w="1359121">
                  <a:moveTo>
                    <a:pt x="16856" y="0"/>
                  </a:moveTo>
                  <a:lnTo>
                    <a:pt x="1342265" y="0"/>
                  </a:lnTo>
                  <a:cubicBezTo>
                    <a:pt x="1351574" y="0"/>
                    <a:pt x="1359121" y="7547"/>
                    <a:pt x="1359121" y="16856"/>
                  </a:cubicBezTo>
                  <a:lnTo>
                    <a:pt x="1359121" y="815423"/>
                  </a:lnTo>
                  <a:cubicBezTo>
                    <a:pt x="1359121" y="824732"/>
                    <a:pt x="1351574" y="832279"/>
                    <a:pt x="1342265" y="832279"/>
                  </a:cubicBezTo>
                  <a:lnTo>
                    <a:pt x="16856" y="832279"/>
                  </a:lnTo>
                  <a:cubicBezTo>
                    <a:pt x="7547" y="832279"/>
                    <a:pt x="0" y="824732"/>
                    <a:pt x="0" y="815423"/>
                  </a:cubicBezTo>
                  <a:lnTo>
                    <a:pt x="0" y="16856"/>
                  </a:lnTo>
                  <a:cubicBezTo>
                    <a:pt x="0" y="7547"/>
                    <a:pt x="7547" y="0"/>
                    <a:pt x="1685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031" r="0" b="-10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11172825" cy="5886487"/>
            <a:chOff x="0" y="0"/>
            <a:chExt cx="14897100" cy="78486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4897100" cy="312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27283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Exploratory Data Analysis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164466"/>
              <a:ext cx="3121446" cy="4684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Chole</a:t>
              </a:r>
              <a:r>
                <a:rPr lang="en-US" sz="2499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sterol Boxplot: Displays the distribution differences in cholesterol levels between the two groups.</a:t>
              </a:r>
            </a:p>
            <a:p>
              <a:pPr algn="l" marL="0" indent="0" lvl="0">
                <a:lnSpc>
                  <a:spcPts val="349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D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02879" y="2988419"/>
            <a:ext cx="11482243" cy="7031329"/>
            <a:chOff x="0" y="0"/>
            <a:chExt cx="1359121" cy="8322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9121" cy="832279"/>
            </a:xfrm>
            <a:custGeom>
              <a:avLst/>
              <a:gdLst/>
              <a:ahLst/>
              <a:cxnLst/>
              <a:rect r="r" b="b" t="t" l="l"/>
              <a:pathLst>
                <a:path h="832279" w="1359121">
                  <a:moveTo>
                    <a:pt x="16856" y="0"/>
                  </a:moveTo>
                  <a:lnTo>
                    <a:pt x="1342265" y="0"/>
                  </a:lnTo>
                  <a:cubicBezTo>
                    <a:pt x="1351574" y="0"/>
                    <a:pt x="1359121" y="7547"/>
                    <a:pt x="1359121" y="16856"/>
                  </a:cubicBezTo>
                  <a:lnTo>
                    <a:pt x="1359121" y="815423"/>
                  </a:lnTo>
                  <a:cubicBezTo>
                    <a:pt x="1359121" y="824732"/>
                    <a:pt x="1351574" y="832279"/>
                    <a:pt x="1342265" y="832279"/>
                  </a:cubicBezTo>
                  <a:lnTo>
                    <a:pt x="16856" y="832279"/>
                  </a:lnTo>
                  <a:cubicBezTo>
                    <a:pt x="7547" y="832279"/>
                    <a:pt x="0" y="824732"/>
                    <a:pt x="0" y="815423"/>
                  </a:cubicBezTo>
                  <a:lnTo>
                    <a:pt x="0" y="16856"/>
                  </a:lnTo>
                  <a:cubicBezTo>
                    <a:pt x="0" y="7547"/>
                    <a:pt x="7547" y="0"/>
                    <a:pt x="1685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031" r="0" b="-10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11172825" cy="5448337"/>
            <a:chOff x="0" y="0"/>
            <a:chExt cx="14897100" cy="72644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4897100" cy="312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27283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Exploratory Data Analysis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164466"/>
              <a:ext cx="3121446" cy="4099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Oldpeak</a:t>
              </a:r>
              <a:r>
                <a:rPr lang="en-US" sz="2499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Boxplot: Highlights ST depression—one of the strongest visual indicators of heart disease.</a:t>
              </a:r>
            </a:p>
            <a:p>
              <a:pPr algn="l" marL="0" indent="0" lvl="0">
                <a:lnSpc>
                  <a:spcPts val="349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9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95768" y="1729968"/>
            <a:ext cx="10998200" cy="8248650"/>
          </a:xfrm>
          <a:custGeom>
            <a:avLst/>
            <a:gdLst/>
            <a:ahLst/>
            <a:cxnLst/>
            <a:rect r="r" b="b" t="t" l="l"/>
            <a:pathLst>
              <a:path h="8248650" w="10998200">
                <a:moveTo>
                  <a:pt x="0" y="0"/>
                </a:moveTo>
                <a:lnTo>
                  <a:pt x="10998200" y="0"/>
                </a:lnTo>
                <a:lnTo>
                  <a:pt x="10998200" y="8248650"/>
                </a:lnTo>
                <a:lnTo>
                  <a:pt x="0" y="824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367" y="3546475"/>
            <a:ext cx="3843875" cy="309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Notice clear separation for 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oldpeak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 and 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thalach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Correlation patterns help justify model choice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742950"/>
            <a:ext cx="688657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Relationships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D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9763125" cy="1990725"/>
            <a:chOff x="0" y="0"/>
            <a:chExt cx="13017500" cy="26543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3017500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27283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Methodology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38100" y="2000250"/>
              <a:ext cx="129794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Understanding the approach to model selection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263414"/>
            <a:ext cx="6858000" cy="2574888"/>
            <a:chOff x="0" y="0"/>
            <a:chExt cx="9144000" cy="343318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085800"/>
              <a:ext cx="9144000" cy="2347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The dataset is divided into an 80% training set and a 20% test set, ensuring robust evaluation of model performance while minimizing overfitting risk during training.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91440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Train/Test Split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01300" y="3044339"/>
            <a:ext cx="6858000" cy="3013038"/>
            <a:chOff x="0" y="0"/>
            <a:chExt cx="9144000" cy="401738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085800"/>
              <a:ext cx="9144000" cy="2931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Two models were employed: Logistic Regression for its interpretability and KNN for its ability to capture complex patterns, allowing for a comprehensive analysis of heart disease prediction.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91440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Models Used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375091" y="6597650"/>
            <a:ext cx="6858000" cy="266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KNN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pr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e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proce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s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s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i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ng: c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ent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eri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n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g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+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sc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a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l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ing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KNN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 t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u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n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e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d 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using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CV →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b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est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 K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= 3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Logi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st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ic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R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egre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ss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ion 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us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e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d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di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r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e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c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tly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 w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it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h f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ac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t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o</a:t>
            </a: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rs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9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30532" y="2038350"/>
            <a:ext cx="11426936" cy="8162097"/>
          </a:xfrm>
          <a:custGeom>
            <a:avLst/>
            <a:gdLst/>
            <a:ahLst/>
            <a:cxnLst/>
            <a:rect r="r" b="b" t="t" l="l"/>
            <a:pathLst>
              <a:path h="8162097" w="11426936">
                <a:moveTo>
                  <a:pt x="0" y="0"/>
                </a:moveTo>
                <a:lnTo>
                  <a:pt x="11426936" y="0"/>
                </a:lnTo>
                <a:lnTo>
                  <a:pt x="11426936" y="8162097"/>
                </a:lnTo>
                <a:lnTo>
                  <a:pt x="0" y="8162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6442" y="419100"/>
            <a:ext cx="15295117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Logistic </a:t>
            </a:r>
            <a:r>
              <a:rPr lang="en-US" b="true" sz="9000" spc="-89" strike="noStrike" u="none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Re</a:t>
            </a:r>
            <a:r>
              <a:rPr lang="en-US" b="true" sz="9000" spc="-89" strike="noStrike" u="none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gress</a:t>
            </a:r>
            <a:r>
              <a:rPr lang="en-US" b="true" sz="9000" spc="-89" strike="noStrike" u="none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ion</a:t>
            </a:r>
            <a:r>
              <a:rPr lang="en-US" b="true" sz="9000" spc="-89" strike="noStrike" u="none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 ROC Curve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9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442415"/>
            <a:ext cx="4010025" cy="5177835"/>
            <a:chOff x="0" y="0"/>
            <a:chExt cx="1056138" cy="1363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363709"/>
            </a:xfrm>
            <a:custGeom>
              <a:avLst/>
              <a:gdLst/>
              <a:ahLst/>
              <a:cxnLst/>
              <a:rect r="r" b="b" t="t" l="l"/>
              <a:pathLst>
                <a:path h="1363709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315443"/>
                  </a:lnTo>
                  <a:cubicBezTo>
                    <a:pt x="1056138" y="1328244"/>
                    <a:pt x="1051053" y="1340521"/>
                    <a:pt x="1042001" y="1349573"/>
                  </a:cubicBezTo>
                  <a:cubicBezTo>
                    <a:pt x="1032950" y="1358624"/>
                    <a:pt x="1020673" y="1363709"/>
                    <a:pt x="1007872" y="1363709"/>
                  </a:cubicBezTo>
                  <a:lnTo>
                    <a:pt x="48266" y="1363709"/>
                  </a:lnTo>
                  <a:cubicBezTo>
                    <a:pt x="21609" y="1363709"/>
                    <a:pt x="0" y="1342100"/>
                    <a:pt x="0" y="1315443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4D35E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56138" cy="137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4442415"/>
            <a:ext cx="4010025" cy="5177835"/>
            <a:chOff x="0" y="0"/>
            <a:chExt cx="1056138" cy="13637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363709"/>
            </a:xfrm>
            <a:custGeom>
              <a:avLst/>
              <a:gdLst/>
              <a:ahLst/>
              <a:cxnLst/>
              <a:rect r="r" b="b" t="t" l="l"/>
              <a:pathLst>
                <a:path h="1363709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315443"/>
                  </a:lnTo>
                  <a:cubicBezTo>
                    <a:pt x="1056138" y="1328244"/>
                    <a:pt x="1051053" y="1340521"/>
                    <a:pt x="1042001" y="1349573"/>
                  </a:cubicBezTo>
                  <a:cubicBezTo>
                    <a:pt x="1032950" y="1358624"/>
                    <a:pt x="1020673" y="1363709"/>
                    <a:pt x="1007872" y="1363709"/>
                  </a:cubicBezTo>
                  <a:lnTo>
                    <a:pt x="48266" y="1363709"/>
                  </a:lnTo>
                  <a:cubicBezTo>
                    <a:pt x="21609" y="1363709"/>
                    <a:pt x="0" y="1342100"/>
                    <a:pt x="0" y="1315443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4D35E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37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442415"/>
            <a:ext cx="4010025" cy="5177835"/>
            <a:chOff x="0" y="0"/>
            <a:chExt cx="1056138" cy="13637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1363709"/>
            </a:xfrm>
            <a:custGeom>
              <a:avLst/>
              <a:gdLst/>
              <a:ahLst/>
              <a:cxnLst/>
              <a:rect r="r" b="b" t="t" l="l"/>
              <a:pathLst>
                <a:path h="1363709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315443"/>
                  </a:lnTo>
                  <a:cubicBezTo>
                    <a:pt x="1056138" y="1328244"/>
                    <a:pt x="1051053" y="1340521"/>
                    <a:pt x="1042001" y="1349573"/>
                  </a:cubicBezTo>
                  <a:cubicBezTo>
                    <a:pt x="1032950" y="1358624"/>
                    <a:pt x="1020673" y="1363709"/>
                    <a:pt x="1007872" y="1363709"/>
                  </a:cubicBezTo>
                  <a:lnTo>
                    <a:pt x="48266" y="1363709"/>
                  </a:lnTo>
                  <a:cubicBezTo>
                    <a:pt x="21609" y="1363709"/>
                    <a:pt x="0" y="1342100"/>
                    <a:pt x="0" y="1315443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4D35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56138" cy="137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4442415"/>
            <a:ext cx="4010025" cy="5177835"/>
            <a:chOff x="0" y="0"/>
            <a:chExt cx="1056138" cy="13637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6138" cy="1363709"/>
            </a:xfrm>
            <a:custGeom>
              <a:avLst/>
              <a:gdLst/>
              <a:ahLst/>
              <a:cxnLst/>
              <a:rect r="r" b="b" t="t" l="l"/>
              <a:pathLst>
                <a:path h="1363709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315443"/>
                  </a:lnTo>
                  <a:cubicBezTo>
                    <a:pt x="1056138" y="1328244"/>
                    <a:pt x="1051053" y="1340521"/>
                    <a:pt x="1042001" y="1349573"/>
                  </a:cubicBezTo>
                  <a:cubicBezTo>
                    <a:pt x="1032950" y="1358624"/>
                    <a:pt x="1020673" y="1363709"/>
                    <a:pt x="1007872" y="1363709"/>
                  </a:cubicBezTo>
                  <a:lnTo>
                    <a:pt x="48266" y="1363709"/>
                  </a:lnTo>
                  <a:cubicBezTo>
                    <a:pt x="21609" y="1363709"/>
                    <a:pt x="0" y="1342100"/>
                    <a:pt x="0" y="1315443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4D35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56138" cy="137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41910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Logistic Regression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9769" y="6019800"/>
            <a:ext cx="3603986" cy="1780540"/>
            <a:chOff x="0" y="0"/>
            <a:chExt cx="4805315" cy="237405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47625"/>
              <a:ext cx="4805315" cy="1039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60"/>
                </a:lnSpc>
              </a:pPr>
              <a:r>
                <a:rPr lang="en-US" b="true" sz="5400" spc="-54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Accuracy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1588" y="119507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0.8431 achieved overall accuracy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0786" y="6019800"/>
            <a:ext cx="3031604" cy="1780540"/>
            <a:chOff x="0" y="0"/>
            <a:chExt cx="4042139" cy="237405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47625"/>
              <a:ext cx="4042139" cy="1039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60"/>
                </a:lnSpc>
              </a:pPr>
              <a:r>
                <a:rPr lang="en-US" b="true" sz="5400" spc="-54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Sensitivity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19507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Detects heart disease at 88.57%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85611" y="6019800"/>
            <a:ext cx="3031604" cy="1780540"/>
            <a:chOff x="0" y="0"/>
            <a:chExt cx="4042139" cy="237405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47625"/>
              <a:ext cx="4042139" cy="1039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60"/>
                </a:lnSpc>
              </a:pPr>
              <a:r>
                <a:rPr lang="en-US" b="true" sz="5400" spc="-54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Specificity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19507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Identifies negatives at 79.80%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03701" y="6019800"/>
            <a:ext cx="3025073" cy="1780540"/>
            <a:chOff x="0" y="0"/>
            <a:chExt cx="4033431" cy="237405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47625"/>
              <a:ext cx="4033431" cy="1039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60"/>
                </a:lnSpc>
              </a:pPr>
              <a:r>
                <a:rPr lang="en-US" b="true" sz="5400" spc="-54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AUC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195070"/>
              <a:ext cx="4033431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Area Under Curve is 0.9286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72010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3493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4975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66458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869769" y="1732280"/>
            <a:ext cx="16751481" cy="312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272838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Key Predictors Identified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C</a:t>
            </a:r>
            <a:r>
              <a:rPr lang="en-US" sz="2899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hest p</a:t>
            </a:r>
            <a:r>
              <a:rPr lang="en-US" sz="2899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ain type (cp), maximum heart rate (thalach), ST depression (oldpeak), number of major vessels (ca), cholesterol, sex.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272838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Interpretation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Logistic regression provides strong interpretability and reveals clinically meaningful predictors.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9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74134" y="1714500"/>
            <a:ext cx="11539732" cy="8242666"/>
          </a:xfrm>
          <a:custGeom>
            <a:avLst/>
            <a:gdLst/>
            <a:ahLst/>
            <a:cxnLst/>
            <a:rect r="r" b="b" t="t" l="l"/>
            <a:pathLst>
              <a:path h="8242666" w="11539732">
                <a:moveTo>
                  <a:pt x="0" y="0"/>
                </a:moveTo>
                <a:lnTo>
                  <a:pt x="11539732" y="0"/>
                </a:lnTo>
                <a:lnTo>
                  <a:pt x="11539732" y="8242666"/>
                </a:lnTo>
                <a:lnTo>
                  <a:pt x="0" y="82426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6442" y="419100"/>
            <a:ext cx="15295117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KNN</a:t>
            </a:r>
            <a:r>
              <a:rPr lang="en-US" b="true" sz="9000" spc="-89" strike="noStrike" u="none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 ROC Curve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D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4010025" cy="6267450"/>
            <a:chOff x="0" y="0"/>
            <a:chExt cx="1056138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EE964B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3352800"/>
            <a:ext cx="4010025" cy="6267450"/>
            <a:chOff x="0" y="0"/>
            <a:chExt cx="1056138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EE964B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352800"/>
            <a:ext cx="4010025" cy="6267450"/>
            <a:chOff x="0" y="0"/>
            <a:chExt cx="1056138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EE964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3352800"/>
            <a:ext cx="4010025" cy="6267450"/>
            <a:chOff x="0" y="0"/>
            <a:chExt cx="1056138" cy="16506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EE964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41910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KNN Results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9769" y="6019800"/>
            <a:ext cx="3603986" cy="1342390"/>
            <a:chOff x="0" y="0"/>
            <a:chExt cx="4805315" cy="178985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47625"/>
              <a:ext cx="4805315" cy="1039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60"/>
                </a:lnSpc>
              </a:pPr>
              <a:r>
                <a:rPr lang="en-US" b="true" sz="5400" spc="-54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Best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1588" y="1195070"/>
              <a:ext cx="4042139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Best K = 3 chosen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0786" y="6019800"/>
            <a:ext cx="3031604" cy="1780540"/>
            <a:chOff x="0" y="0"/>
            <a:chExt cx="4042139" cy="237405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47625"/>
              <a:ext cx="4042139" cy="1039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60"/>
                </a:lnSpc>
              </a:pPr>
              <a:r>
                <a:rPr lang="en-US" b="true" sz="5400" spc="-54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Accuracy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19507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Achieved 0.8775 accuracy rate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85611" y="6019800"/>
            <a:ext cx="3031604" cy="1780540"/>
            <a:chOff x="0" y="0"/>
            <a:chExt cx="4042139" cy="237405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47625"/>
              <a:ext cx="4042139" cy="1039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60"/>
                </a:lnSpc>
              </a:pPr>
              <a:r>
                <a:rPr lang="en-US" b="true" sz="5400" spc="-54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Sensitivity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19507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Sensitivity rate of 0.8381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03701" y="6019800"/>
            <a:ext cx="3025073" cy="1780540"/>
            <a:chOff x="0" y="0"/>
            <a:chExt cx="4033431" cy="237405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47625"/>
              <a:ext cx="4033431" cy="1039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60"/>
                </a:lnSpc>
              </a:pPr>
              <a:r>
                <a:rPr lang="en-US" b="true" sz="5400" spc="-54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Specificity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195070"/>
              <a:ext cx="4033431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High specificity at 0.9192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72010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3493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4975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66458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869769" y="1732280"/>
            <a:ext cx="16751481" cy="209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272838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Interpretation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KNN provides excellent predictive performance, especially in distinguishing healthy vs diseased participants.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9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407795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Model Comparison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2224520"/>
            <a:ext cx="4010025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</a:pPr>
            <a:r>
              <a:rPr lang="en-US" b="true" sz="6000" spc="-60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Logistic Regression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5482070"/>
            <a:ext cx="4010025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Basic statistical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19850" y="2910320"/>
            <a:ext cx="4010025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</a:pPr>
            <a:r>
              <a:rPr lang="en-US" b="true" sz="6000" spc="-60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KNN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19850" y="5482070"/>
            <a:ext cx="4010025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Nonlinear and flexible approach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2950" y="2910320"/>
            <a:ext cx="4010025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</a:pPr>
            <a:r>
              <a:rPr lang="en-US" b="true" sz="6000" spc="-60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72950" y="5482070"/>
            <a:ext cx="4010025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272838"/>
                </a:solidFill>
                <a:latin typeface="Nyutro Sans"/>
                <a:ea typeface="Nyutro Sans"/>
                <a:cs typeface="Nyutro Sans"/>
                <a:sym typeface="Nyutro Sans"/>
              </a:rPr>
              <a:t>KNN proves to be superior</a:t>
            </a:r>
          </a:p>
        </p:txBody>
      </p:sp>
      <p:sp>
        <p:nvSpPr>
          <p:cNvPr name="AutoShape 9" id="9"/>
          <p:cNvSpPr/>
          <p:nvPr/>
        </p:nvSpPr>
        <p:spPr>
          <a:xfrm>
            <a:off x="1800225" y="4681970"/>
            <a:ext cx="17870997" cy="0"/>
          </a:xfrm>
          <a:prstGeom prst="line">
            <a:avLst/>
          </a:prstGeom>
          <a:ln cap="flat" w="57150">
            <a:solidFill>
              <a:srgbClr val="2728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666750" y="4232098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19850" y="4232098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172950" y="4232098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6275820"/>
            <a:ext cx="16751481" cy="415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272838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Summary</a:t>
            </a:r>
          </a:p>
          <a:p>
            <a:pPr algn="l" marL="626107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272838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KNN outperforms Logistic Regr</a:t>
            </a:r>
            <a:r>
              <a:rPr lang="en-US" b="true" sz="2899">
                <a:solidFill>
                  <a:srgbClr val="272838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ession </a:t>
            </a:r>
            <a:r>
              <a:rPr lang="en-US" b="true" sz="2899">
                <a:solidFill>
                  <a:srgbClr val="272838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 both accuracy and AUC.</a:t>
            </a:r>
          </a:p>
          <a:p>
            <a:pPr algn="l" marL="626107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272838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Logistic Regression has slightly higher sensitivity.</a:t>
            </a:r>
          </a:p>
          <a:p>
            <a:pPr algn="l" marL="626107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272838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KNN has much higher specificity and nearly perfect AUC.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272838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Interpretation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272838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F</a:t>
            </a:r>
            <a:r>
              <a:rPr lang="en-US" b="true" sz="2899">
                <a:solidFill>
                  <a:srgbClr val="272838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or predictive performance → KNN is the better model. For interpretability → Logistic Regression remains useful.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4D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660119" y="3327554"/>
          <a:ext cx="10967762" cy="3631891"/>
        </p:xfrm>
        <a:graphic>
          <a:graphicData uri="http://schemas.openxmlformats.org/drawingml/2006/table">
            <a:tbl>
              <a:tblPr/>
              <a:tblGrid>
                <a:gridCol w="2174614"/>
                <a:gridCol w="2174614"/>
                <a:gridCol w="2174614"/>
                <a:gridCol w="2174614"/>
                <a:gridCol w="2269306"/>
              </a:tblGrid>
              <a:tr h="10641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Sensitivity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Specificity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AUC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10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Nyutro Sans Bold"/>
                          <a:ea typeface="Nyutro Sans Bold"/>
                          <a:cs typeface="Nyutro Sans Bold"/>
                          <a:sym typeface="Nyutro Sans Bold"/>
                        </a:rPr>
                        <a:t>Logistic Regression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Nyutro Sans Bold"/>
                          <a:ea typeface="Nyutro Sans Bold"/>
                          <a:cs typeface="Nyutro Sans Bold"/>
                          <a:sym typeface="Nyutro Sans Bold"/>
                        </a:rPr>
                        <a:t>0.84314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Nyutro Sans Bold"/>
                          <a:ea typeface="Nyutro Sans Bold"/>
                          <a:cs typeface="Nyutro Sans Bold"/>
                          <a:sym typeface="Nyutro Sans Bold"/>
                        </a:rPr>
                        <a:t>0.88571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Nyutro Sans Bold"/>
                          <a:ea typeface="Nyutro Sans Bold"/>
                          <a:cs typeface="Nyutro Sans Bold"/>
                          <a:sym typeface="Nyutro Sans Bold"/>
                        </a:rPr>
                        <a:t>0.79798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Nyutro Sans Bold"/>
                          <a:ea typeface="Nyutro Sans Bold"/>
                          <a:cs typeface="Nyutro Sans Bold"/>
                          <a:sym typeface="Nyutro Sans Bold"/>
                        </a:rPr>
                        <a:t>0.92862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</a:tr>
              <a:tr h="11566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Nyutro Sans Bold"/>
                          <a:ea typeface="Nyutro Sans Bold"/>
                          <a:cs typeface="Nyutro Sans Bold"/>
                          <a:sym typeface="Nyutro Sans Bold"/>
                        </a:rPr>
                        <a:t>KNN (K=3)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Nyutro Sans Bold"/>
                          <a:ea typeface="Nyutro Sans Bold"/>
                          <a:cs typeface="Nyutro Sans Bold"/>
                          <a:sym typeface="Nyutro Sans Bold"/>
                        </a:rPr>
                        <a:t>0.87745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Nyutro Sans Bold"/>
                          <a:ea typeface="Nyutro Sans Bold"/>
                          <a:cs typeface="Nyutro Sans Bold"/>
                          <a:sym typeface="Nyutro Sans Bold"/>
                        </a:rPr>
                        <a:t>0.83810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Nyutro Sans Bold"/>
                          <a:ea typeface="Nyutro Sans Bold"/>
                          <a:cs typeface="Nyutro Sans Bold"/>
                          <a:sym typeface="Nyutro Sans Bold"/>
                        </a:rPr>
                        <a:t>0.91919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Nyutro Sans Bold"/>
                          <a:ea typeface="Nyutro Sans Bold"/>
                          <a:cs typeface="Nyutro Sans Bold"/>
                          <a:sym typeface="Nyutro Sans Bold"/>
                        </a:rPr>
                        <a:t>0.98591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105025" y="914164"/>
            <a:ext cx="1407795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Model Comparison Table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4D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9763125" cy="3019425"/>
            <a:chOff x="0" y="0"/>
            <a:chExt cx="13017500" cy="4025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3017500" cy="312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27283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Discussion &amp; Limitations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38100" y="3371850"/>
              <a:ext cx="129794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Exploring strengths and weaknesses together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856056"/>
            <a:ext cx="6858000" cy="3013038"/>
            <a:chOff x="0" y="0"/>
            <a:chExt cx="9144000" cy="401738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085800"/>
              <a:ext cx="9144000" cy="2931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KNN captures </a:t>
              </a:r>
              <a:r>
                <a:rPr lang="en-US" b="true" sz="24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nonlinear relationships effectively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, allowing it to identify complex patterns that logistic regression may overlook, enhancing the model’s predictive power in heart disease forecasting.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91440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Strengths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01300" y="3856056"/>
            <a:ext cx="6858000" cy="2574888"/>
            <a:chOff x="0" y="0"/>
            <a:chExt cx="9144000" cy="343318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085800"/>
              <a:ext cx="9144000" cy="2347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The absence of an </a:t>
              </a:r>
              <a:r>
                <a:rPr lang="en-US" b="true" sz="24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external validation dataset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limits the applicability of the findings, and some coefficients in logistic regression can be influenced by the encoding of categorical factors.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91440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Limitations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15000" y="7040544"/>
            <a:ext cx="6858000" cy="2574888"/>
            <a:chOff x="0" y="0"/>
            <a:chExt cx="9144000" cy="343318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085800"/>
              <a:ext cx="9144000" cy="2347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est SVM or Random Forest.</a:t>
              </a:r>
            </a:p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y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PCA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or 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eat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ur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 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electi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on.</a:t>
              </a:r>
            </a:p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Validat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 on a di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ffer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nt p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ti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nt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dat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as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24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t.</a:t>
              </a:r>
            </a:p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91440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Fu</a:t>
              </a: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</a:t>
              </a: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u</a:t>
              </a: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re</a:t>
              </a:r>
              <a:r>
                <a:rPr lang="en-US" b="true" sz="2999" strike="noStrike" u="none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 Work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4D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773" y="6934200"/>
            <a:ext cx="19247032" cy="4815863"/>
            <a:chOff x="0" y="0"/>
            <a:chExt cx="5069177" cy="1268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9177" cy="1268375"/>
            </a:xfrm>
            <a:custGeom>
              <a:avLst/>
              <a:gdLst/>
              <a:ahLst/>
              <a:cxnLst/>
              <a:rect r="r" b="b" t="t" l="l"/>
              <a:pathLst>
                <a:path h="1268375" w="5069177">
                  <a:moveTo>
                    <a:pt x="0" y="0"/>
                  </a:moveTo>
                  <a:lnTo>
                    <a:pt x="5069177" y="0"/>
                  </a:lnTo>
                  <a:lnTo>
                    <a:pt x="5069177" y="1268375"/>
                  </a:lnTo>
                  <a:lnTo>
                    <a:pt x="0" y="1268375"/>
                  </a:lnTo>
                  <a:close/>
                </a:path>
              </a:pathLst>
            </a:custGeom>
            <a:solidFill>
              <a:srgbClr val="EE96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069177" cy="1277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83320" y="3368294"/>
            <a:ext cx="11781244" cy="3057860"/>
            <a:chOff x="0" y="0"/>
            <a:chExt cx="15708326" cy="407714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746148"/>
              <a:ext cx="15708326" cy="3330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8" indent="-302259" lvl="1">
                <a:lnSpc>
                  <a:spcPts val="39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B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st M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el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: KNN (K=3)</a:t>
              </a:r>
            </a:p>
            <a:p>
              <a:pPr algn="l" marL="604518" indent="-302259" lvl="1">
                <a:lnSpc>
                  <a:spcPts val="39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Wh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y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: Hi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g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hest accu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acy and AUC</a:t>
              </a:r>
            </a:p>
            <a:p>
              <a:pPr algn="l" marL="604518" indent="-302259" lvl="1">
                <a:lnSpc>
                  <a:spcPts val="39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K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y Predic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or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Iden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ifi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d: Oldpeak, cp, thalach, ca</a:t>
              </a:r>
            </a:p>
            <a:p>
              <a:pPr algn="l" marL="604518" indent="-302259" lvl="1">
                <a:lnSpc>
                  <a:spcPts val="39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Out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com</a:t>
              </a:r>
              <a:r>
                <a:rPr lang="en-US" sz="2799" strike="noStrike" u="none">
                  <a:solidFill>
                    <a:srgbClr val="27283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e: Supports early detection of heart disease</a:t>
              </a:r>
            </a:p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5674224" y="-133350"/>
              <a:ext cx="5346700" cy="796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19"/>
                </a:lnSpc>
              </a:pPr>
              <a:r>
                <a:rPr lang="en-US" b="true" sz="3299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Key T</a:t>
              </a:r>
              <a:r>
                <a:rPr lang="en-US" b="true" sz="3299">
                  <a:solidFill>
                    <a:srgbClr val="27283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akeaways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05025" y="728682"/>
            <a:ext cx="1407795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Conclusion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4D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05025" y="4307221"/>
            <a:ext cx="14077950" cy="177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59"/>
              </a:lnSpc>
              <a:spcBef>
                <a:spcPct val="0"/>
              </a:spcBef>
            </a:pPr>
            <a:r>
              <a:rPr lang="en-US" b="true" sz="12399" spc="-123" strike="noStrike" u="none">
                <a:solidFill>
                  <a:srgbClr val="27283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Predicting Heart Disease</dc:description>
  <dc:identifier>DAG572DVBiA</dc:identifier>
  <dcterms:modified xsi:type="dcterms:W3CDTF">2011-08-01T06:04:30Z</dcterms:modified>
  <cp:revision>1</cp:revision>
  <dc:title>Presentation - Predicting Heart Disease</dc:title>
</cp:coreProperties>
</file>